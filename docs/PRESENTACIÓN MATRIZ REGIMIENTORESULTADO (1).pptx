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aleway"/>
      <p:regular r:id="rId26"/>
      <p:bold r:id="rId27"/>
      <p:italic r:id="rId28"/>
      <p:boldItalic r:id="rId29"/>
    </p:embeddedFont>
    <p:embeddedFont>
      <p:font typeface="La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regular.fntdata"/><Relationship Id="rId25" Type="http://schemas.openxmlformats.org/officeDocument/2006/relationships/slide" Target="slides/slide20.xml"/><Relationship Id="rId28" Type="http://schemas.openxmlformats.org/officeDocument/2006/relationships/font" Target="fonts/Raleway-italic.fntdata"/><Relationship Id="rId27"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11" Type="http://schemas.openxmlformats.org/officeDocument/2006/relationships/slide" Target="slides/slide6.xml"/><Relationship Id="rId33" Type="http://schemas.openxmlformats.org/officeDocument/2006/relationships/font" Target="fonts/Lato-boldItalic.fntdata"/><Relationship Id="rId10" Type="http://schemas.openxmlformats.org/officeDocument/2006/relationships/slide" Target="slides/slide5.xml"/><Relationship Id="rId32"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8767f2d5b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8767f2d5b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8767f2d5b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8767f2d5b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8767f2d5b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8767f2d5b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8767f2d5b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8767f2d5b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8767f2d5b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8767f2d5b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767f2d5b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8767f2d5b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40a2cee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40a2cee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767f2d5b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767f2d5b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40a2cee4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40a2cee4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8767f2d5b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8767f2d5b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767f2d5b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767f2d5b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8767f2d5b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8767f2d5b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f8767f2d5b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f8767f2d5b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8767f2d5b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8767f2d5b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8767f2d5b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f8767f2d5b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8767f2d5b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8767f2d5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8767f2d5b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8767f2d5b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8767f2d5b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8767f2d5b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f8767f2d5b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f8767f2d5b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3"/>
          <p:cNvPicPr preferRelativeResize="0"/>
          <p:nvPr/>
        </p:nvPicPr>
        <p:blipFill>
          <a:blip r:embed="rId3">
            <a:alphaModFix/>
          </a:blip>
          <a:stretch>
            <a:fillRect/>
          </a:stretch>
        </p:blipFill>
        <p:spPr>
          <a:xfrm>
            <a:off x="1042425" y="701000"/>
            <a:ext cx="7059145" cy="3974025"/>
          </a:xfrm>
          <a:prstGeom prst="rect">
            <a:avLst/>
          </a:prstGeom>
          <a:noFill/>
          <a:ln>
            <a:noFill/>
          </a:ln>
        </p:spPr>
      </p:pic>
      <p:sp>
        <p:nvSpPr>
          <p:cNvPr id="87" name="Google Shape;87;p13"/>
          <p:cNvSpPr txBox="1"/>
          <p:nvPr>
            <p:ph type="ctrTitle"/>
          </p:nvPr>
        </p:nvSpPr>
        <p:spPr>
          <a:xfrm>
            <a:off x="1850700" y="1250613"/>
            <a:ext cx="5253600" cy="3041400"/>
          </a:xfrm>
          <a:prstGeom prst="rect">
            <a:avLst/>
          </a:prstGeom>
          <a:ln>
            <a:noFill/>
          </a:ln>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 sz="4000"/>
              <a:t>PRESENTACIÓN</a:t>
            </a:r>
            <a:r>
              <a:rPr lang="es" sz="4000"/>
              <a:t> </a:t>
            </a:r>
            <a:endParaRPr sz="4000"/>
          </a:p>
          <a:p>
            <a:pPr indent="0" lvl="0" marL="0" rtl="0" algn="ctr">
              <a:spcBef>
                <a:spcPts val="0"/>
              </a:spcBef>
              <a:spcAft>
                <a:spcPts val="0"/>
              </a:spcAft>
              <a:buSzPts val="990"/>
              <a:buNone/>
            </a:pPr>
            <a:r>
              <a:rPr lang="es" sz="4000"/>
              <a:t>MATRIZ SGR</a:t>
            </a:r>
            <a:endParaRPr sz="4000"/>
          </a:p>
          <a:p>
            <a:pPr indent="0" lvl="0" marL="0" rtl="0" algn="ctr">
              <a:spcBef>
                <a:spcPts val="0"/>
              </a:spcBef>
              <a:spcAft>
                <a:spcPts val="0"/>
              </a:spcAft>
              <a:buSzPts val="990"/>
              <a:buNone/>
            </a:pPr>
            <a:r>
              <a:rPr lang="es" sz="4000"/>
              <a:t>SEGUIMIENTO </a:t>
            </a:r>
            <a:r>
              <a:rPr lang="es" sz="4000"/>
              <a:t>GESTIÓN</a:t>
            </a:r>
            <a:r>
              <a:rPr lang="es" sz="4000"/>
              <a:t> RESULTADOS</a:t>
            </a:r>
            <a:endParaRPr sz="4000"/>
          </a:p>
        </p:txBody>
      </p:sp>
      <p:sp>
        <p:nvSpPr>
          <p:cNvPr id="88" name="Google Shape;88;p13"/>
          <p:cNvSpPr txBox="1"/>
          <p:nvPr/>
        </p:nvSpPr>
        <p:spPr>
          <a:xfrm>
            <a:off x="1876487" y="1242031"/>
            <a:ext cx="5079000" cy="326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00"/>
                </a:solidFill>
                <a:latin typeface="Raleway"/>
                <a:ea typeface="Raleway"/>
                <a:cs typeface="Raleway"/>
                <a:sym typeface="Raleway"/>
              </a:rPr>
              <a:t>PRESENTACIÓN </a:t>
            </a:r>
            <a:endParaRPr b="1" sz="4000">
              <a:solidFill>
                <a:srgbClr val="FFFF00"/>
              </a:solidFill>
              <a:latin typeface="Raleway"/>
              <a:ea typeface="Raleway"/>
              <a:cs typeface="Raleway"/>
              <a:sym typeface="Raleway"/>
            </a:endParaRPr>
          </a:p>
          <a:p>
            <a:pPr indent="0" lvl="0" marL="0" rtl="0" algn="ctr">
              <a:spcBef>
                <a:spcPts val="0"/>
              </a:spcBef>
              <a:spcAft>
                <a:spcPts val="0"/>
              </a:spcAft>
              <a:buNone/>
            </a:pPr>
            <a:r>
              <a:rPr b="1" lang="es" sz="4000">
                <a:solidFill>
                  <a:srgbClr val="FFFF00"/>
                </a:solidFill>
                <a:latin typeface="Raleway"/>
                <a:ea typeface="Raleway"/>
                <a:cs typeface="Raleway"/>
                <a:sym typeface="Raleway"/>
              </a:rPr>
              <a:t>MATRIZ SGR</a:t>
            </a:r>
            <a:endParaRPr b="1" sz="4000">
              <a:solidFill>
                <a:srgbClr val="FFFF00"/>
              </a:solidFill>
              <a:latin typeface="Raleway"/>
              <a:ea typeface="Raleway"/>
              <a:cs typeface="Raleway"/>
              <a:sym typeface="Raleway"/>
            </a:endParaRPr>
          </a:p>
          <a:p>
            <a:pPr indent="0" lvl="0" marL="0" rtl="0" algn="ctr">
              <a:spcBef>
                <a:spcPts val="0"/>
              </a:spcBef>
              <a:spcAft>
                <a:spcPts val="0"/>
              </a:spcAft>
              <a:buNone/>
            </a:pPr>
            <a:r>
              <a:rPr b="1" lang="es" sz="4000">
                <a:solidFill>
                  <a:srgbClr val="FFFF00"/>
                </a:solidFill>
                <a:latin typeface="Raleway"/>
                <a:ea typeface="Raleway"/>
                <a:cs typeface="Raleway"/>
                <a:sym typeface="Raleway"/>
              </a:rPr>
              <a:t>SEGUIMIENTO GESTIÓN RESULTADOS</a:t>
            </a:r>
            <a:endParaRPr sz="12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ctrTitle"/>
          </p:nvPr>
        </p:nvSpPr>
        <p:spPr>
          <a:xfrm>
            <a:off x="884925" y="237900"/>
            <a:ext cx="72882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3280"/>
              <a:t>NECESIDAD DE ORDEN Y </a:t>
            </a:r>
            <a:r>
              <a:rPr lang="es" sz="3280"/>
              <a:t>MEDICIÓN</a:t>
            </a:r>
            <a:endParaRPr sz="3280"/>
          </a:p>
        </p:txBody>
      </p:sp>
      <p:sp>
        <p:nvSpPr>
          <p:cNvPr id="94" name="Google Shape;94;p14"/>
          <p:cNvSpPr txBox="1"/>
          <p:nvPr>
            <p:ph idx="1" type="subTitle"/>
          </p:nvPr>
        </p:nvSpPr>
        <p:spPr>
          <a:xfrm>
            <a:off x="729625" y="1488100"/>
            <a:ext cx="4200300" cy="267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Cada </a:t>
            </a:r>
            <a:r>
              <a:rPr lang="es"/>
              <a:t>delegación</a:t>
            </a:r>
            <a:r>
              <a:rPr lang="es"/>
              <a:t> funcionaba de manera independiente y sin </a:t>
            </a:r>
            <a:r>
              <a:rPr lang="es"/>
              <a:t>relación</a:t>
            </a:r>
            <a:r>
              <a:rPr lang="es"/>
              <a:t> interna con el resto de las delegaciones.</a:t>
            </a:r>
            <a:endParaRPr/>
          </a:p>
          <a:p>
            <a:pPr indent="0" lvl="0" marL="0" rtl="0" algn="l">
              <a:spcBef>
                <a:spcPts val="0"/>
              </a:spcBef>
              <a:spcAft>
                <a:spcPts val="0"/>
              </a:spcAft>
              <a:buNone/>
            </a:pPr>
            <a:r>
              <a:rPr lang="es"/>
              <a:t>Cada quien velaba por su propio bienestar</a:t>
            </a:r>
            <a:endParaRPr/>
          </a:p>
          <a:p>
            <a:pPr indent="0" lvl="0" marL="0" rtl="0" algn="l">
              <a:spcBef>
                <a:spcPts val="0"/>
              </a:spcBef>
              <a:spcAft>
                <a:spcPts val="0"/>
              </a:spcAft>
              <a:buNone/>
            </a:pPr>
            <a:r>
              <a:rPr lang="es"/>
              <a:t>No </a:t>
            </a:r>
            <a:r>
              <a:rPr lang="es"/>
              <a:t>había</a:t>
            </a:r>
            <a:r>
              <a:rPr lang="es"/>
              <a:t> registros de las solicitudes realizadas.</a:t>
            </a:r>
            <a:endParaRPr/>
          </a:p>
          <a:p>
            <a:pPr indent="0" lvl="0" marL="0" rtl="0" algn="l">
              <a:spcBef>
                <a:spcPts val="0"/>
              </a:spcBef>
              <a:spcAft>
                <a:spcPts val="0"/>
              </a:spcAft>
              <a:buNone/>
            </a:pPr>
            <a:r>
              <a:rPr lang="es"/>
              <a:t>No </a:t>
            </a:r>
            <a:r>
              <a:rPr lang="es"/>
              <a:t>había</a:t>
            </a:r>
            <a:r>
              <a:rPr lang="es"/>
              <a:t> una herramienta de </a:t>
            </a:r>
            <a:r>
              <a:rPr lang="es"/>
              <a:t>medición</a:t>
            </a:r>
            <a:endParaRPr/>
          </a:p>
          <a:p>
            <a:pPr indent="0" lvl="0" marL="0" rtl="0" algn="l">
              <a:spcBef>
                <a:spcPts val="0"/>
              </a:spcBef>
              <a:spcAft>
                <a:spcPts val="0"/>
              </a:spcAft>
              <a:buNone/>
            </a:pPr>
            <a:r>
              <a:rPr lang="es"/>
              <a:t>cada cual hacía la función o tarea que le acomodaba</a:t>
            </a:r>
            <a:endParaRPr/>
          </a:p>
          <a:p>
            <a:pPr indent="0" lvl="0" marL="0" rtl="0" algn="l">
              <a:spcBef>
                <a:spcPts val="0"/>
              </a:spcBef>
              <a:spcAft>
                <a:spcPts val="0"/>
              </a:spcAft>
              <a:buNone/>
            </a:pPr>
            <a:r>
              <a:t/>
            </a:r>
            <a:endParaRPr/>
          </a:p>
        </p:txBody>
      </p:sp>
      <p:pic>
        <p:nvPicPr>
          <p:cNvPr id="95" name="Google Shape;95;p14"/>
          <p:cNvPicPr preferRelativeResize="0"/>
          <p:nvPr/>
        </p:nvPicPr>
        <p:blipFill>
          <a:blip r:embed="rId3">
            <a:alphaModFix/>
          </a:blip>
          <a:stretch>
            <a:fillRect/>
          </a:stretch>
        </p:blipFill>
        <p:spPr>
          <a:xfrm>
            <a:off x="4929925" y="1530200"/>
            <a:ext cx="3909276" cy="24432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ctrTitle"/>
          </p:nvPr>
        </p:nvSpPr>
        <p:spPr>
          <a:xfrm>
            <a:off x="285950" y="341025"/>
            <a:ext cx="88089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Llevar la estructura del banco a la municipalidad</a:t>
            </a:r>
            <a:r>
              <a:rPr lang="es" sz="3280"/>
              <a:t> </a:t>
            </a:r>
            <a:endParaRPr sz="3280"/>
          </a:p>
        </p:txBody>
      </p:sp>
      <p:sp>
        <p:nvSpPr>
          <p:cNvPr id="101" name="Google Shape;101;p15"/>
          <p:cNvSpPr txBox="1"/>
          <p:nvPr>
            <p:ph idx="1" type="subTitle"/>
          </p:nvPr>
        </p:nvSpPr>
        <p:spPr>
          <a:xfrm>
            <a:off x="600650" y="1488100"/>
            <a:ext cx="4329300" cy="2677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Mediante las herramientas de google, </a:t>
            </a:r>
            <a:endParaRPr/>
          </a:p>
          <a:p>
            <a:pPr indent="0" lvl="0" marL="0" rtl="0" algn="l">
              <a:spcBef>
                <a:spcPts val="0"/>
              </a:spcBef>
              <a:spcAft>
                <a:spcPts val="0"/>
              </a:spcAft>
              <a:buNone/>
            </a:pPr>
            <a:r>
              <a:rPr lang="es"/>
              <a:t>se crea una serie de planillas de </a:t>
            </a:r>
            <a:r>
              <a:rPr lang="es"/>
              <a:t>información</a:t>
            </a:r>
            <a:r>
              <a:rPr lang="es"/>
              <a:t> </a:t>
            </a:r>
            <a:r>
              <a:rPr lang="es"/>
              <a:t>entrelazadas</a:t>
            </a:r>
            <a:r>
              <a:rPr lang="es"/>
              <a:t> para poder lograr;</a:t>
            </a:r>
            <a:endParaRPr/>
          </a:p>
          <a:p>
            <a:pPr indent="0" lvl="0" marL="0" rtl="0" algn="l">
              <a:spcBef>
                <a:spcPts val="0"/>
              </a:spcBef>
              <a:spcAft>
                <a:spcPts val="0"/>
              </a:spcAft>
              <a:buNone/>
            </a:pPr>
            <a:r>
              <a:t/>
            </a:r>
            <a:endParaRPr/>
          </a:p>
          <a:p>
            <a:pPr indent="0" lvl="0" marL="0" rtl="0" algn="l">
              <a:spcBef>
                <a:spcPts val="0"/>
              </a:spcBef>
              <a:spcAft>
                <a:spcPts val="0"/>
              </a:spcAft>
              <a:buNone/>
            </a:pPr>
            <a:r>
              <a:rPr lang="es"/>
              <a:t>1.- Registro de actividades por funcionario</a:t>
            </a:r>
            <a:endParaRPr/>
          </a:p>
          <a:p>
            <a:pPr indent="0" lvl="0" marL="0" rtl="0" algn="l">
              <a:spcBef>
                <a:spcPts val="0"/>
              </a:spcBef>
              <a:spcAft>
                <a:spcPts val="0"/>
              </a:spcAft>
              <a:buNone/>
            </a:pPr>
            <a:r>
              <a:rPr lang="es"/>
              <a:t>2.- R</a:t>
            </a:r>
            <a:r>
              <a:rPr lang="es"/>
              <a:t>egistro</a:t>
            </a:r>
            <a:r>
              <a:rPr lang="es"/>
              <a:t> de compromisos con los vecinos</a:t>
            </a:r>
            <a:endParaRPr/>
          </a:p>
          <a:p>
            <a:pPr indent="0" lvl="0" marL="0" rtl="0" algn="l">
              <a:spcBef>
                <a:spcPts val="0"/>
              </a:spcBef>
              <a:spcAft>
                <a:spcPts val="0"/>
              </a:spcAft>
              <a:buNone/>
            </a:pPr>
            <a:r>
              <a:rPr lang="es"/>
              <a:t>3.- Base de datos de servicios entregados</a:t>
            </a:r>
            <a:endParaRPr/>
          </a:p>
          <a:p>
            <a:pPr indent="0" lvl="0" marL="0" rtl="0" algn="l">
              <a:spcBef>
                <a:spcPts val="0"/>
              </a:spcBef>
              <a:spcAft>
                <a:spcPts val="0"/>
              </a:spcAft>
              <a:buNone/>
            </a:pPr>
            <a:r>
              <a:rPr lang="es"/>
              <a:t>4.- Determinar tareas y funciones </a:t>
            </a:r>
            <a:endParaRPr/>
          </a:p>
          <a:p>
            <a:pPr indent="0" lvl="0" marL="0" rtl="0" algn="l">
              <a:spcBef>
                <a:spcPts val="0"/>
              </a:spcBef>
              <a:spcAft>
                <a:spcPts val="0"/>
              </a:spcAft>
              <a:buNone/>
            </a:pPr>
            <a:r>
              <a:rPr lang="es"/>
              <a:t>5.- Manejo de plazos </a:t>
            </a:r>
            <a:endParaRPr/>
          </a:p>
          <a:p>
            <a:pPr indent="0" lvl="0" marL="0" rtl="0" algn="l">
              <a:spcBef>
                <a:spcPts val="0"/>
              </a:spcBef>
              <a:spcAft>
                <a:spcPts val="0"/>
              </a:spcAft>
              <a:buNone/>
            </a:pPr>
            <a:r>
              <a:rPr lang="es"/>
              <a:t>6.- Llevar un resumen de las actividades</a:t>
            </a:r>
            <a:endParaRPr/>
          </a:p>
          <a:p>
            <a:pPr indent="0" lvl="0" marL="0" rtl="0" algn="l">
              <a:spcBef>
                <a:spcPts val="0"/>
              </a:spcBef>
              <a:spcAft>
                <a:spcPts val="0"/>
              </a:spcAft>
              <a:buNone/>
            </a:pPr>
            <a:r>
              <a:t/>
            </a:r>
            <a:endParaRPr/>
          </a:p>
        </p:txBody>
      </p:sp>
      <p:pic>
        <p:nvPicPr>
          <p:cNvPr id="102" name="Google Shape;102;p15"/>
          <p:cNvPicPr preferRelativeResize="0"/>
          <p:nvPr/>
        </p:nvPicPr>
        <p:blipFill>
          <a:blip r:embed="rId3">
            <a:alphaModFix/>
          </a:blip>
          <a:stretch>
            <a:fillRect/>
          </a:stretch>
        </p:blipFill>
        <p:spPr>
          <a:xfrm>
            <a:off x="5101825" y="1353675"/>
            <a:ext cx="3381425" cy="25360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ctrTitle"/>
          </p:nvPr>
        </p:nvSpPr>
        <p:spPr>
          <a:xfrm>
            <a:off x="285950" y="341025"/>
            <a:ext cx="88089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1.- Registro de actividades por funcionario</a:t>
            </a:r>
            <a:endParaRPr sz="3280"/>
          </a:p>
        </p:txBody>
      </p:sp>
      <p:sp>
        <p:nvSpPr>
          <p:cNvPr id="108" name="Google Shape;108;p16"/>
          <p:cNvSpPr txBox="1"/>
          <p:nvPr>
            <p:ph idx="1" type="subTitle"/>
          </p:nvPr>
        </p:nvSpPr>
        <p:spPr>
          <a:xfrm>
            <a:off x="729625" y="1488100"/>
            <a:ext cx="4176300" cy="2252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900"/>
              <a:t>Mediante la matriz, se detalla el cargo y las funciones que </a:t>
            </a:r>
            <a:r>
              <a:rPr lang="es" sz="1900"/>
              <a:t>serán</a:t>
            </a:r>
            <a:r>
              <a:rPr lang="es" sz="1900"/>
              <a:t> medidas o evaluadas </a:t>
            </a:r>
            <a:endParaRPr sz="1900"/>
          </a:p>
          <a:p>
            <a:pPr indent="0" lvl="0" marL="0" rtl="0" algn="l">
              <a:spcBef>
                <a:spcPts val="0"/>
              </a:spcBef>
              <a:spcAft>
                <a:spcPts val="0"/>
              </a:spcAft>
              <a:buNone/>
            </a:pPr>
            <a:r>
              <a:rPr lang="es" sz="1900"/>
              <a:t> </a:t>
            </a:r>
            <a:endParaRPr sz="1900"/>
          </a:p>
          <a:p>
            <a:pPr indent="0" lvl="0" marL="0" rtl="0" algn="l">
              <a:spcBef>
                <a:spcPts val="0"/>
              </a:spcBef>
              <a:spcAft>
                <a:spcPts val="0"/>
              </a:spcAft>
              <a:buNone/>
            </a:pPr>
            <a:r>
              <a:rPr lang="es" sz="1900"/>
              <a:t>Determinando los funcionarios que </a:t>
            </a:r>
            <a:r>
              <a:rPr lang="es" sz="1900"/>
              <a:t>serán</a:t>
            </a:r>
            <a:r>
              <a:rPr lang="es" sz="1900"/>
              <a:t> medidos de la </a:t>
            </a:r>
            <a:r>
              <a:rPr lang="es" sz="1900"/>
              <a:t>organización.</a:t>
            </a:r>
            <a:endParaRPr sz="1900"/>
          </a:p>
          <a:p>
            <a:pPr indent="0" lvl="0" marL="0" rtl="0" algn="l">
              <a:spcBef>
                <a:spcPts val="0"/>
              </a:spcBef>
              <a:spcAft>
                <a:spcPts val="0"/>
              </a:spcAft>
              <a:buNone/>
            </a:pPr>
            <a:r>
              <a:rPr lang="es" sz="1900"/>
              <a:t>creando una pestaña por cada puesto</a:t>
            </a:r>
            <a:endParaRPr sz="1900"/>
          </a:p>
        </p:txBody>
      </p:sp>
      <p:pic>
        <p:nvPicPr>
          <p:cNvPr id="109" name="Google Shape;109;p16"/>
          <p:cNvPicPr preferRelativeResize="0"/>
          <p:nvPr/>
        </p:nvPicPr>
        <p:blipFill>
          <a:blip r:embed="rId3">
            <a:alphaModFix/>
          </a:blip>
          <a:stretch>
            <a:fillRect/>
          </a:stretch>
        </p:blipFill>
        <p:spPr>
          <a:xfrm>
            <a:off x="5046425" y="1523601"/>
            <a:ext cx="3378175" cy="2252125"/>
          </a:xfrm>
          <a:prstGeom prst="rect">
            <a:avLst/>
          </a:prstGeom>
          <a:noFill/>
          <a:ln>
            <a:noFill/>
          </a:ln>
        </p:spPr>
      </p:pic>
      <p:pic>
        <p:nvPicPr>
          <p:cNvPr id="110" name="Google Shape;110;p16"/>
          <p:cNvPicPr preferRelativeResize="0"/>
          <p:nvPr/>
        </p:nvPicPr>
        <p:blipFill>
          <a:blip r:embed="rId4">
            <a:alphaModFix/>
          </a:blip>
          <a:stretch>
            <a:fillRect/>
          </a:stretch>
        </p:blipFill>
        <p:spPr>
          <a:xfrm>
            <a:off x="728663" y="3999526"/>
            <a:ext cx="7686675" cy="714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ph idx="1" type="subTitle"/>
          </p:nvPr>
        </p:nvSpPr>
        <p:spPr>
          <a:xfrm>
            <a:off x="681750" y="2182275"/>
            <a:ext cx="7371900" cy="2313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t/>
            </a:r>
            <a:endParaRPr/>
          </a:p>
          <a:p>
            <a:pPr indent="0" lvl="0" marL="0" rtl="0" algn="l">
              <a:spcBef>
                <a:spcPts val="0"/>
              </a:spcBef>
              <a:spcAft>
                <a:spcPts val="0"/>
              </a:spcAft>
              <a:buNone/>
            </a:pPr>
            <a:r>
              <a:rPr lang="es" sz="1800"/>
              <a:t>La 1ra pestaña muestra la sucursal, en este caso </a:t>
            </a:r>
            <a:r>
              <a:rPr lang="es" sz="1800"/>
              <a:t>delegación</a:t>
            </a:r>
            <a:r>
              <a:rPr lang="es" sz="1800"/>
              <a:t> rural</a:t>
            </a:r>
            <a:endParaRPr sz="1800"/>
          </a:p>
          <a:p>
            <a:pPr indent="0" lvl="0" marL="0" rtl="0" algn="l">
              <a:spcBef>
                <a:spcPts val="0"/>
              </a:spcBef>
              <a:spcAft>
                <a:spcPts val="0"/>
              </a:spcAft>
              <a:buNone/>
            </a:pPr>
            <a:r>
              <a:rPr lang="es" sz="1800"/>
              <a:t>La 2da pestaña muestra el tubo de trabajo ( agenda Colectiva)</a:t>
            </a:r>
            <a:endParaRPr sz="1800"/>
          </a:p>
          <a:p>
            <a:pPr indent="0" lvl="0" marL="0" rtl="0" algn="l">
              <a:spcBef>
                <a:spcPts val="0"/>
              </a:spcBef>
              <a:spcAft>
                <a:spcPts val="0"/>
              </a:spcAft>
              <a:buNone/>
            </a:pPr>
            <a:r>
              <a:rPr lang="es" sz="1800"/>
              <a:t>luego vienen </a:t>
            </a:r>
            <a:r>
              <a:rPr lang="es" sz="1800"/>
              <a:t>pestañas</a:t>
            </a:r>
            <a:r>
              <a:rPr lang="es" sz="1800"/>
              <a:t> </a:t>
            </a:r>
            <a:r>
              <a:rPr lang="es" sz="1800"/>
              <a:t>personales</a:t>
            </a:r>
            <a:r>
              <a:rPr lang="es" sz="1800"/>
              <a:t> por cargo ( territorial Org comunitarias, gestor social, apoyo Administrativo, supervisor diserco, coordinador diserco, proyectos y compras, </a:t>
            </a:r>
            <a:r>
              <a:rPr lang="es" sz="1800"/>
              <a:t>planificación</a:t>
            </a:r>
            <a:r>
              <a:rPr lang="es" sz="1800"/>
              <a:t> y control, gestor seguridad </a:t>
            </a:r>
            <a:endParaRPr sz="1800"/>
          </a:p>
          <a:p>
            <a:pPr indent="0" lvl="0" marL="0" rtl="0" algn="l">
              <a:spcBef>
                <a:spcPts val="0"/>
              </a:spcBef>
              <a:spcAft>
                <a:spcPts val="0"/>
              </a:spcAft>
              <a:buNone/>
            </a:pPr>
            <a:r>
              <a:rPr lang="es" sz="1800"/>
              <a:t>Luego </a:t>
            </a:r>
            <a:r>
              <a:rPr lang="es" sz="1800"/>
              <a:t>está</a:t>
            </a:r>
            <a:r>
              <a:rPr lang="es" sz="1800"/>
              <a:t> la pestaña de </a:t>
            </a:r>
            <a:r>
              <a:rPr lang="es" sz="1800"/>
              <a:t>semáforo</a:t>
            </a:r>
            <a:r>
              <a:rPr lang="es" sz="1800"/>
              <a:t> con seguimiento al dia.</a:t>
            </a:r>
            <a:endParaRPr sz="1800"/>
          </a:p>
          <a:p>
            <a:pPr indent="0" lvl="0" marL="0" rtl="0" algn="l">
              <a:spcBef>
                <a:spcPts val="0"/>
              </a:spcBef>
              <a:spcAft>
                <a:spcPts val="0"/>
              </a:spcAft>
              <a:buNone/>
            </a:pPr>
            <a:r>
              <a:rPr lang="es" sz="1800"/>
              <a:t>y la </a:t>
            </a:r>
            <a:r>
              <a:rPr lang="es" sz="1800"/>
              <a:t>última</a:t>
            </a:r>
            <a:r>
              <a:rPr lang="es" sz="1800"/>
              <a:t> que muestra el resumen de la </a:t>
            </a:r>
            <a:r>
              <a:rPr lang="es" sz="1800"/>
              <a:t>gestión</a:t>
            </a:r>
            <a:endParaRPr sz="1800"/>
          </a:p>
        </p:txBody>
      </p:sp>
      <p:pic>
        <p:nvPicPr>
          <p:cNvPr id="116" name="Google Shape;116;p17"/>
          <p:cNvPicPr preferRelativeResize="0"/>
          <p:nvPr/>
        </p:nvPicPr>
        <p:blipFill>
          <a:blip r:embed="rId3">
            <a:alphaModFix/>
          </a:blip>
          <a:stretch>
            <a:fillRect/>
          </a:stretch>
        </p:blipFill>
        <p:spPr>
          <a:xfrm>
            <a:off x="681750" y="1343400"/>
            <a:ext cx="6762750" cy="876300"/>
          </a:xfrm>
          <a:prstGeom prst="rect">
            <a:avLst/>
          </a:prstGeom>
          <a:noFill/>
          <a:ln>
            <a:noFill/>
          </a:ln>
        </p:spPr>
      </p:pic>
      <p:sp>
        <p:nvSpPr>
          <p:cNvPr id="117" name="Google Shape;117;p17"/>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Pestañas de funcionamiento</a:t>
            </a:r>
            <a:endParaRPr sz="328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 PERSONAL</a:t>
            </a:r>
            <a:endParaRPr sz="3280"/>
          </a:p>
        </p:txBody>
      </p:sp>
      <p:pic>
        <p:nvPicPr>
          <p:cNvPr id="123" name="Google Shape;123;p18"/>
          <p:cNvPicPr preferRelativeResize="0"/>
          <p:nvPr/>
        </p:nvPicPr>
        <p:blipFill>
          <a:blip r:embed="rId3">
            <a:alphaModFix/>
          </a:blip>
          <a:stretch>
            <a:fillRect/>
          </a:stretch>
        </p:blipFill>
        <p:spPr>
          <a:xfrm>
            <a:off x="80575" y="1072425"/>
            <a:ext cx="8839200" cy="2755075"/>
          </a:xfrm>
          <a:prstGeom prst="rect">
            <a:avLst/>
          </a:prstGeom>
          <a:noFill/>
          <a:ln>
            <a:noFill/>
          </a:ln>
        </p:spPr>
      </p:pic>
      <p:sp>
        <p:nvSpPr>
          <p:cNvPr id="124" name="Google Shape;124;p18"/>
          <p:cNvSpPr txBox="1"/>
          <p:nvPr/>
        </p:nvSpPr>
        <p:spPr>
          <a:xfrm>
            <a:off x="234025" y="3989850"/>
            <a:ext cx="86859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solidFill>
                  <a:schemeClr val="accent1"/>
                </a:solidFill>
                <a:latin typeface="Lato"/>
                <a:ea typeface="Lato"/>
                <a:cs typeface="Lato"/>
                <a:sym typeface="Lato"/>
              </a:rPr>
              <a:t>En la pestaña personal se detalla el funcionario, el cargo, las funciones a medir, las metas, los avances, cumplimientos y se realizan los ingresos personales realizados al </a:t>
            </a:r>
            <a:r>
              <a:rPr lang="es" sz="1700">
                <a:solidFill>
                  <a:schemeClr val="accent1"/>
                </a:solidFill>
                <a:latin typeface="Lato"/>
                <a:ea typeface="Lato"/>
                <a:cs typeface="Lato"/>
                <a:sym typeface="Lato"/>
              </a:rPr>
              <a:t>día</a:t>
            </a:r>
            <a:r>
              <a:rPr lang="es" sz="1700">
                <a:solidFill>
                  <a:schemeClr val="accent1"/>
                </a:solidFill>
                <a:latin typeface="Lato"/>
                <a:ea typeface="Lato"/>
                <a:cs typeface="Lato"/>
                <a:sym typeface="Lato"/>
              </a:rPr>
              <a:t> generando base de datos por actividades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 PERSONAL</a:t>
            </a:r>
            <a:endParaRPr sz="3280"/>
          </a:p>
        </p:txBody>
      </p:sp>
      <p:sp>
        <p:nvSpPr>
          <p:cNvPr id="130" name="Google Shape;130;p19"/>
          <p:cNvSpPr txBox="1"/>
          <p:nvPr/>
        </p:nvSpPr>
        <p:spPr>
          <a:xfrm>
            <a:off x="513350" y="4085600"/>
            <a:ext cx="7326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accent1"/>
                </a:solidFill>
                <a:latin typeface="Lato"/>
                <a:ea typeface="Lato"/>
                <a:cs typeface="Lato"/>
                <a:sym typeface="Lato"/>
              </a:rPr>
              <a:t>Las </a:t>
            </a:r>
            <a:r>
              <a:rPr lang="es" sz="1800">
                <a:solidFill>
                  <a:schemeClr val="accent1"/>
                </a:solidFill>
                <a:latin typeface="Lato"/>
                <a:ea typeface="Lato"/>
                <a:cs typeface="Lato"/>
                <a:sym typeface="Lato"/>
              </a:rPr>
              <a:t>actividades</a:t>
            </a:r>
            <a:r>
              <a:rPr lang="es" sz="1800">
                <a:solidFill>
                  <a:schemeClr val="accent1"/>
                </a:solidFill>
                <a:latin typeface="Lato"/>
                <a:ea typeface="Lato"/>
                <a:cs typeface="Lato"/>
                <a:sym typeface="Lato"/>
              </a:rPr>
              <a:t> se registran </a:t>
            </a:r>
            <a:r>
              <a:rPr lang="es" sz="1800">
                <a:solidFill>
                  <a:schemeClr val="accent1"/>
                </a:solidFill>
                <a:latin typeface="Lato"/>
                <a:ea typeface="Lato"/>
                <a:cs typeface="Lato"/>
                <a:sym typeface="Lato"/>
              </a:rPr>
              <a:t>con</a:t>
            </a:r>
            <a:r>
              <a:rPr lang="es" sz="1800">
                <a:solidFill>
                  <a:schemeClr val="accent1"/>
                </a:solidFill>
                <a:latin typeface="Lato"/>
                <a:ea typeface="Lato"/>
                <a:cs typeface="Lato"/>
                <a:sym typeface="Lato"/>
              </a:rPr>
              <a:t> fecha actividad </a:t>
            </a:r>
            <a:r>
              <a:rPr lang="es" sz="1800">
                <a:solidFill>
                  <a:schemeClr val="accent1"/>
                </a:solidFill>
                <a:latin typeface="Lato"/>
                <a:ea typeface="Lato"/>
                <a:cs typeface="Lato"/>
                <a:sym typeface="Lato"/>
              </a:rPr>
              <a:t>contacto</a:t>
            </a:r>
            <a:r>
              <a:rPr lang="es" sz="1800">
                <a:solidFill>
                  <a:schemeClr val="accent1"/>
                </a:solidFill>
                <a:latin typeface="Lato"/>
                <a:ea typeface="Lato"/>
                <a:cs typeface="Lato"/>
                <a:sym typeface="Lato"/>
              </a:rPr>
              <a:t> </a:t>
            </a:r>
            <a:r>
              <a:rPr lang="es" sz="1800">
                <a:solidFill>
                  <a:schemeClr val="accent1"/>
                </a:solidFill>
                <a:latin typeface="Lato"/>
                <a:ea typeface="Lato"/>
                <a:cs typeface="Lato"/>
                <a:sym typeface="Lato"/>
              </a:rPr>
              <a:t>ítem</a:t>
            </a:r>
            <a:r>
              <a:rPr lang="es" sz="1800">
                <a:solidFill>
                  <a:schemeClr val="accent1"/>
                </a:solidFill>
                <a:latin typeface="Lato"/>
                <a:ea typeface="Lato"/>
                <a:cs typeface="Lato"/>
                <a:sym typeface="Lato"/>
              </a:rPr>
              <a:t> a medir imagen verificadora  y punto validado</a:t>
            </a:r>
            <a:endParaRPr sz="1600"/>
          </a:p>
        </p:txBody>
      </p:sp>
      <p:pic>
        <p:nvPicPr>
          <p:cNvPr id="131" name="Google Shape;131;p19"/>
          <p:cNvPicPr preferRelativeResize="0"/>
          <p:nvPr/>
        </p:nvPicPr>
        <p:blipFill>
          <a:blip r:embed="rId3">
            <a:alphaModFix/>
          </a:blip>
          <a:stretch>
            <a:fillRect/>
          </a:stretch>
        </p:blipFill>
        <p:spPr>
          <a:xfrm>
            <a:off x="427675" y="1141025"/>
            <a:ext cx="7326675" cy="27888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 PERSONAL AREA SOCIAL</a:t>
            </a:r>
            <a:endParaRPr sz="3280"/>
          </a:p>
        </p:txBody>
      </p:sp>
      <p:sp>
        <p:nvSpPr>
          <p:cNvPr id="137" name="Google Shape;137;p20"/>
          <p:cNvSpPr txBox="1"/>
          <p:nvPr/>
        </p:nvSpPr>
        <p:spPr>
          <a:xfrm>
            <a:off x="203950" y="3612925"/>
            <a:ext cx="7326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accent1"/>
                </a:solidFill>
                <a:latin typeface="Lato"/>
                <a:ea typeface="Lato"/>
                <a:cs typeface="Lato"/>
                <a:sym typeface="Lato"/>
              </a:rPr>
              <a:t>EL </a:t>
            </a:r>
            <a:r>
              <a:rPr lang="es" sz="1800">
                <a:solidFill>
                  <a:schemeClr val="accent1"/>
                </a:solidFill>
                <a:latin typeface="Lato"/>
                <a:ea typeface="Lato"/>
                <a:cs typeface="Lato"/>
                <a:sym typeface="Lato"/>
              </a:rPr>
              <a:t>ÁREA</a:t>
            </a:r>
            <a:r>
              <a:rPr lang="es" sz="1800">
                <a:solidFill>
                  <a:schemeClr val="accent1"/>
                </a:solidFill>
                <a:latin typeface="Lato"/>
                <a:ea typeface="Lato"/>
                <a:cs typeface="Lato"/>
                <a:sym typeface="Lato"/>
              </a:rPr>
              <a:t> SOCIAL PUEDE PRESENTAR  TRES ATENCIONES DEL MISMO USUARIO, POR LO QUE  TIENEN SERVICIOS DEFINIDOS </a:t>
            </a:r>
            <a:endParaRPr sz="1600"/>
          </a:p>
        </p:txBody>
      </p:sp>
      <p:pic>
        <p:nvPicPr>
          <p:cNvPr id="138" name="Google Shape;138;p20"/>
          <p:cNvPicPr preferRelativeResize="0"/>
          <p:nvPr/>
        </p:nvPicPr>
        <p:blipFill>
          <a:blip r:embed="rId3">
            <a:alphaModFix/>
          </a:blip>
          <a:stretch>
            <a:fillRect/>
          </a:stretch>
        </p:blipFill>
        <p:spPr>
          <a:xfrm>
            <a:off x="152400" y="1428275"/>
            <a:ext cx="8389102" cy="2075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ctrTitle"/>
          </p:nvPr>
        </p:nvSpPr>
        <p:spPr>
          <a:xfrm>
            <a:off x="634200" y="660200"/>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VERIFICADORES </a:t>
            </a:r>
            <a:endParaRPr sz="3280"/>
          </a:p>
        </p:txBody>
      </p:sp>
      <p:sp>
        <p:nvSpPr>
          <p:cNvPr id="144" name="Google Shape;144;p21"/>
          <p:cNvSpPr txBox="1"/>
          <p:nvPr/>
        </p:nvSpPr>
        <p:spPr>
          <a:xfrm>
            <a:off x="4089825" y="1714150"/>
            <a:ext cx="4159500" cy="252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900">
                <a:solidFill>
                  <a:schemeClr val="accent1"/>
                </a:solidFill>
                <a:latin typeface="Lato"/>
                <a:ea typeface="Lato"/>
                <a:cs typeface="Lato"/>
                <a:sym typeface="Lato"/>
              </a:rPr>
              <a:t>Al momento de ingresar la fecha se crea un </a:t>
            </a:r>
            <a:r>
              <a:rPr lang="es" sz="1900">
                <a:solidFill>
                  <a:schemeClr val="accent1"/>
                </a:solidFill>
                <a:latin typeface="Lato"/>
                <a:ea typeface="Lato"/>
                <a:cs typeface="Lato"/>
                <a:sym typeface="Lato"/>
              </a:rPr>
              <a:t>código</a:t>
            </a:r>
            <a:r>
              <a:rPr lang="es" sz="1900">
                <a:solidFill>
                  <a:schemeClr val="accent1"/>
                </a:solidFill>
                <a:latin typeface="Lato"/>
                <a:ea typeface="Lato"/>
                <a:cs typeface="Lato"/>
                <a:sym typeface="Lato"/>
              </a:rPr>
              <a:t> que permite al usuario darle nombre a una </a:t>
            </a:r>
            <a:r>
              <a:rPr lang="es" sz="1900">
                <a:solidFill>
                  <a:schemeClr val="accent1"/>
                </a:solidFill>
                <a:latin typeface="Lato"/>
                <a:ea typeface="Lato"/>
                <a:cs typeface="Lato"/>
                <a:sym typeface="Lato"/>
              </a:rPr>
              <a:t>fotografía</a:t>
            </a:r>
            <a:r>
              <a:rPr lang="es" sz="1900">
                <a:solidFill>
                  <a:schemeClr val="accent1"/>
                </a:solidFill>
                <a:latin typeface="Lato"/>
                <a:ea typeface="Lato"/>
                <a:cs typeface="Lato"/>
                <a:sym typeface="Lato"/>
              </a:rPr>
              <a:t> relacionada con una actividad  la que permite verificar la </a:t>
            </a:r>
            <a:r>
              <a:rPr lang="es" sz="1900">
                <a:solidFill>
                  <a:schemeClr val="accent1"/>
                </a:solidFill>
                <a:latin typeface="Lato"/>
                <a:ea typeface="Lato"/>
                <a:cs typeface="Lato"/>
                <a:sym typeface="Lato"/>
              </a:rPr>
              <a:t>realización</a:t>
            </a:r>
            <a:r>
              <a:rPr lang="es" sz="1900">
                <a:solidFill>
                  <a:schemeClr val="accent1"/>
                </a:solidFill>
                <a:latin typeface="Lato"/>
                <a:ea typeface="Lato"/>
                <a:cs typeface="Lato"/>
                <a:sym typeface="Lato"/>
              </a:rPr>
              <a:t> de la misma, quedando como </a:t>
            </a:r>
            <a:r>
              <a:rPr lang="es" sz="1900">
                <a:solidFill>
                  <a:schemeClr val="accent1"/>
                </a:solidFill>
                <a:latin typeface="Lato"/>
                <a:ea typeface="Lato"/>
                <a:cs typeface="Lato"/>
                <a:sym typeface="Lato"/>
              </a:rPr>
              <a:t>registro</a:t>
            </a:r>
            <a:r>
              <a:rPr lang="es" sz="1900">
                <a:solidFill>
                  <a:schemeClr val="accent1"/>
                </a:solidFill>
                <a:latin typeface="Lato"/>
                <a:ea typeface="Lato"/>
                <a:cs typeface="Lato"/>
                <a:sym typeface="Lato"/>
              </a:rPr>
              <a:t> y facilidad de comprobar generando el punto de logro</a:t>
            </a:r>
            <a:endParaRPr sz="1700"/>
          </a:p>
        </p:txBody>
      </p:sp>
      <p:pic>
        <p:nvPicPr>
          <p:cNvPr id="145" name="Google Shape;145;p21"/>
          <p:cNvPicPr preferRelativeResize="0"/>
          <p:nvPr/>
        </p:nvPicPr>
        <p:blipFill rotWithShape="1">
          <a:blip r:embed="rId3">
            <a:alphaModFix/>
          </a:blip>
          <a:srcRect b="0" l="58898" r="0" t="0"/>
          <a:stretch/>
        </p:blipFill>
        <p:spPr>
          <a:xfrm>
            <a:off x="720975" y="1714150"/>
            <a:ext cx="3011399" cy="27888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ctrTitle"/>
          </p:nvPr>
        </p:nvSpPr>
        <p:spPr>
          <a:xfrm>
            <a:off x="634200" y="660200"/>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VERIFICADORES </a:t>
            </a:r>
            <a:endParaRPr sz="3280"/>
          </a:p>
        </p:txBody>
      </p:sp>
      <p:pic>
        <p:nvPicPr>
          <p:cNvPr id="151" name="Google Shape;151;p22"/>
          <p:cNvPicPr preferRelativeResize="0"/>
          <p:nvPr/>
        </p:nvPicPr>
        <p:blipFill>
          <a:blip r:embed="rId3">
            <a:alphaModFix/>
          </a:blip>
          <a:stretch>
            <a:fillRect/>
          </a:stretch>
        </p:blipFill>
        <p:spPr>
          <a:xfrm>
            <a:off x="152400" y="1651700"/>
            <a:ext cx="3785026" cy="2535913"/>
          </a:xfrm>
          <a:prstGeom prst="rect">
            <a:avLst/>
          </a:prstGeom>
          <a:noFill/>
          <a:ln>
            <a:noFill/>
          </a:ln>
        </p:spPr>
      </p:pic>
      <p:pic>
        <p:nvPicPr>
          <p:cNvPr id="152" name="Google Shape;152;p22"/>
          <p:cNvPicPr preferRelativeResize="0"/>
          <p:nvPr/>
        </p:nvPicPr>
        <p:blipFill>
          <a:blip r:embed="rId4">
            <a:alphaModFix/>
          </a:blip>
          <a:stretch>
            <a:fillRect/>
          </a:stretch>
        </p:blipFill>
        <p:spPr>
          <a:xfrm>
            <a:off x="4072651" y="1431575"/>
            <a:ext cx="4901774" cy="28730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 PERSONAL</a:t>
            </a:r>
            <a:endParaRPr sz="3280"/>
          </a:p>
        </p:txBody>
      </p:sp>
      <p:sp>
        <p:nvSpPr>
          <p:cNvPr id="158" name="Google Shape;158;p23"/>
          <p:cNvSpPr txBox="1"/>
          <p:nvPr/>
        </p:nvSpPr>
        <p:spPr>
          <a:xfrm>
            <a:off x="314325" y="3642750"/>
            <a:ext cx="8509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accent1"/>
                </a:solidFill>
                <a:latin typeface="Lato"/>
                <a:ea typeface="Lato"/>
                <a:cs typeface="Lato"/>
                <a:sym typeface="Lato"/>
              </a:rPr>
              <a:t>Las actividades registradas generan una serie de </a:t>
            </a:r>
            <a:r>
              <a:rPr lang="es" sz="1600">
                <a:solidFill>
                  <a:schemeClr val="accent1"/>
                </a:solidFill>
                <a:latin typeface="Lato"/>
                <a:ea typeface="Lato"/>
                <a:cs typeface="Lato"/>
                <a:sym typeface="Lato"/>
              </a:rPr>
              <a:t>números</a:t>
            </a:r>
            <a:r>
              <a:rPr lang="es" sz="1600">
                <a:solidFill>
                  <a:schemeClr val="accent1"/>
                </a:solidFill>
                <a:latin typeface="Lato"/>
                <a:ea typeface="Lato"/>
                <a:cs typeface="Lato"/>
                <a:sym typeface="Lato"/>
              </a:rPr>
              <a:t> que van sumando a la </a:t>
            </a:r>
            <a:r>
              <a:rPr lang="es" sz="1600">
                <a:solidFill>
                  <a:schemeClr val="accent1"/>
                </a:solidFill>
                <a:latin typeface="Lato"/>
                <a:ea typeface="Lato"/>
                <a:cs typeface="Lato"/>
                <a:sym typeface="Lato"/>
              </a:rPr>
              <a:t>gestión</a:t>
            </a:r>
            <a:r>
              <a:rPr lang="es" sz="1600">
                <a:solidFill>
                  <a:schemeClr val="accent1"/>
                </a:solidFill>
                <a:latin typeface="Lato"/>
                <a:ea typeface="Lato"/>
                <a:cs typeface="Lato"/>
                <a:sym typeface="Lato"/>
              </a:rPr>
              <a:t> de cada </a:t>
            </a:r>
            <a:r>
              <a:rPr lang="es" sz="1600">
                <a:solidFill>
                  <a:schemeClr val="accent1"/>
                </a:solidFill>
                <a:latin typeface="Lato"/>
                <a:ea typeface="Lato"/>
                <a:cs typeface="Lato"/>
                <a:sym typeface="Lato"/>
              </a:rPr>
              <a:t>funcionario</a:t>
            </a:r>
            <a:r>
              <a:rPr lang="es" sz="1600">
                <a:solidFill>
                  <a:schemeClr val="accent1"/>
                </a:solidFill>
                <a:latin typeface="Lato"/>
                <a:ea typeface="Lato"/>
                <a:cs typeface="Lato"/>
                <a:sym typeface="Lato"/>
              </a:rPr>
              <a:t> generando porcentajes de las diferentes </a:t>
            </a:r>
            <a:r>
              <a:rPr lang="es" sz="1600">
                <a:solidFill>
                  <a:schemeClr val="accent1"/>
                </a:solidFill>
                <a:latin typeface="Lato"/>
                <a:ea typeface="Lato"/>
                <a:cs typeface="Lato"/>
                <a:sym typeface="Lato"/>
              </a:rPr>
              <a:t>actividades</a:t>
            </a:r>
            <a:r>
              <a:rPr lang="es" sz="1600">
                <a:solidFill>
                  <a:schemeClr val="accent1"/>
                </a:solidFill>
                <a:latin typeface="Lato"/>
                <a:ea typeface="Lato"/>
                <a:cs typeface="Lato"/>
                <a:sym typeface="Lato"/>
              </a:rPr>
              <a:t> medidas y dando referencias del cumplimiento    </a:t>
            </a:r>
            <a:endParaRPr/>
          </a:p>
        </p:txBody>
      </p:sp>
      <p:pic>
        <p:nvPicPr>
          <p:cNvPr id="159" name="Google Shape;159;p23"/>
          <p:cNvPicPr preferRelativeResize="0"/>
          <p:nvPr/>
        </p:nvPicPr>
        <p:blipFill>
          <a:blip r:embed="rId3">
            <a:alphaModFix/>
          </a:blip>
          <a:stretch>
            <a:fillRect/>
          </a:stretch>
        </p:blipFill>
        <p:spPr>
          <a:xfrm>
            <a:off x="314325" y="1416325"/>
            <a:ext cx="8515350" cy="2085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ph type="ctrTitle"/>
          </p:nvPr>
        </p:nvSpPr>
        <p:spPr>
          <a:xfrm>
            <a:off x="884375" y="436775"/>
            <a:ext cx="8509800" cy="83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PESTAÑA PERSONAL CONCEPTOS</a:t>
            </a:r>
            <a:endParaRPr sz="3280"/>
          </a:p>
        </p:txBody>
      </p:sp>
      <p:sp>
        <p:nvSpPr>
          <p:cNvPr id="165" name="Google Shape;165;p24"/>
          <p:cNvSpPr txBox="1"/>
          <p:nvPr/>
        </p:nvSpPr>
        <p:spPr>
          <a:xfrm>
            <a:off x="932250" y="1190025"/>
            <a:ext cx="77988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accent1"/>
                </a:solidFill>
                <a:latin typeface="Lato"/>
                <a:ea typeface="Lato"/>
                <a:cs typeface="Lato"/>
                <a:sym typeface="Lato"/>
              </a:rPr>
              <a:t>ITEM;  </a:t>
            </a:r>
            <a:r>
              <a:rPr lang="es" sz="1600">
                <a:solidFill>
                  <a:schemeClr val="accent1"/>
                </a:solidFill>
                <a:latin typeface="Lato"/>
                <a:ea typeface="Lato"/>
                <a:cs typeface="Lato"/>
                <a:sym typeface="Lato"/>
              </a:rPr>
              <a:t>Actividades</a:t>
            </a:r>
            <a:r>
              <a:rPr lang="es" sz="1600">
                <a:solidFill>
                  <a:schemeClr val="accent1"/>
                </a:solidFill>
                <a:latin typeface="Lato"/>
                <a:ea typeface="Lato"/>
                <a:cs typeface="Lato"/>
                <a:sym typeface="Lato"/>
              </a:rPr>
              <a:t> por las que el funcionario </a:t>
            </a:r>
            <a:r>
              <a:rPr lang="es" sz="1600">
                <a:solidFill>
                  <a:schemeClr val="accent1"/>
                </a:solidFill>
                <a:latin typeface="Lato"/>
                <a:ea typeface="Lato"/>
                <a:cs typeface="Lato"/>
                <a:sym typeface="Lato"/>
              </a:rPr>
              <a:t>será</a:t>
            </a:r>
            <a:r>
              <a:rPr lang="es" sz="1600">
                <a:solidFill>
                  <a:schemeClr val="accent1"/>
                </a:solidFill>
                <a:latin typeface="Lato"/>
                <a:ea typeface="Lato"/>
                <a:cs typeface="Lato"/>
                <a:sym typeface="Lato"/>
              </a:rPr>
              <a:t> medido</a:t>
            </a:r>
            <a:endParaRPr sz="1600">
              <a:solidFill>
                <a:schemeClr val="accent1"/>
              </a:solidFill>
              <a:latin typeface="Lato"/>
              <a:ea typeface="Lato"/>
              <a:cs typeface="Lato"/>
              <a:sym typeface="Lato"/>
            </a:endParaRPr>
          </a:p>
          <a:p>
            <a:pPr indent="0" lvl="0" marL="0" rtl="0" algn="l">
              <a:spcBef>
                <a:spcPts val="0"/>
              </a:spcBef>
              <a:spcAft>
                <a:spcPts val="0"/>
              </a:spcAft>
              <a:buNone/>
            </a:pPr>
            <a:r>
              <a:rPr lang="es" sz="1600">
                <a:solidFill>
                  <a:schemeClr val="accent1"/>
                </a:solidFill>
                <a:latin typeface="Lato"/>
                <a:ea typeface="Lato"/>
                <a:cs typeface="Lato"/>
                <a:sym typeface="Lato"/>
              </a:rPr>
              <a:t>Ponderador; el % de valor que se le da a esa tarea.</a:t>
            </a:r>
            <a:endParaRPr sz="1600">
              <a:solidFill>
                <a:schemeClr val="accent1"/>
              </a:solidFill>
              <a:latin typeface="Lato"/>
              <a:ea typeface="Lato"/>
              <a:cs typeface="Lato"/>
              <a:sym typeface="Lato"/>
            </a:endParaRPr>
          </a:p>
          <a:p>
            <a:pPr indent="0" lvl="0" marL="0" rtl="0" algn="l">
              <a:spcBef>
                <a:spcPts val="0"/>
              </a:spcBef>
              <a:spcAft>
                <a:spcPts val="0"/>
              </a:spcAft>
              <a:buNone/>
            </a:pPr>
            <a:r>
              <a:rPr lang="es" sz="1600">
                <a:solidFill>
                  <a:schemeClr val="accent1"/>
                </a:solidFill>
                <a:latin typeface="Lato"/>
                <a:ea typeface="Lato"/>
                <a:cs typeface="Lato"/>
                <a:sym typeface="Lato"/>
              </a:rPr>
              <a:t>Meta trimestre; el </a:t>
            </a:r>
            <a:r>
              <a:rPr lang="es" sz="1600">
                <a:solidFill>
                  <a:schemeClr val="accent1"/>
                </a:solidFill>
                <a:latin typeface="Lato"/>
                <a:ea typeface="Lato"/>
                <a:cs typeface="Lato"/>
                <a:sym typeface="Lato"/>
              </a:rPr>
              <a:t>número</a:t>
            </a:r>
            <a:r>
              <a:rPr lang="es" sz="1600">
                <a:solidFill>
                  <a:schemeClr val="accent1"/>
                </a:solidFill>
                <a:latin typeface="Lato"/>
                <a:ea typeface="Lato"/>
                <a:cs typeface="Lato"/>
                <a:sym typeface="Lato"/>
              </a:rPr>
              <a:t> de atenciones esperadas</a:t>
            </a:r>
            <a:endParaRPr sz="1600">
              <a:solidFill>
                <a:schemeClr val="accent1"/>
              </a:solidFill>
              <a:latin typeface="Lato"/>
              <a:ea typeface="Lato"/>
              <a:cs typeface="Lato"/>
              <a:sym typeface="Lato"/>
            </a:endParaRPr>
          </a:p>
          <a:p>
            <a:pPr indent="0" lvl="0" marL="0" rtl="0" algn="l">
              <a:spcBef>
                <a:spcPts val="0"/>
              </a:spcBef>
              <a:spcAft>
                <a:spcPts val="0"/>
              </a:spcAft>
              <a:buNone/>
            </a:pPr>
            <a:r>
              <a:rPr lang="es" sz="1600">
                <a:solidFill>
                  <a:schemeClr val="accent1"/>
                </a:solidFill>
                <a:latin typeface="Lato"/>
                <a:ea typeface="Lato"/>
                <a:cs typeface="Lato"/>
                <a:sym typeface="Lato"/>
              </a:rPr>
              <a:t>Avance actual; el </a:t>
            </a:r>
            <a:r>
              <a:rPr lang="es" sz="1600">
                <a:solidFill>
                  <a:schemeClr val="accent1"/>
                </a:solidFill>
                <a:latin typeface="Lato"/>
                <a:ea typeface="Lato"/>
                <a:cs typeface="Lato"/>
                <a:sym typeface="Lato"/>
              </a:rPr>
              <a:t>número</a:t>
            </a:r>
            <a:r>
              <a:rPr lang="es" sz="1600">
                <a:solidFill>
                  <a:schemeClr val="accent1"/>
                </a:solidFill>
                <a:latin typeface="Lato"/>
                <a:ea typeface="Lato"/>
                <a:cs typeface="Lato"/>
                <a:sym typeface="Lato"/>
              </a:rPr>
              <a:t> de atenciones logradas</a:t>
            </a:r>
            <a:endParaRPr sz="1600">
              <a:solidFill>
                <a:schemeClr val="accent1"/>
              </a:solidFill>
              <a:latin typeface="Lato"/>
              <a:ea typeface="Lato"/>
              <a:cs typeface="Lato"/>
              <a:sym typeface="Lato"/>
            </a:endParaRPr>
          </a:p>
          <a:p>
            <a:pPr indent="0" lvl="0" marL="0" rtl="0" algn="l">
              <a:spcBef>
                <a:spcPts val="0"/>
              </a:spcBef>
              <a:spcAft>
                <a:spcPts val="0"/>
              </a:spcAft>
              <a:buNone/>
            </a:pPr>
            <a:r>
              <a:rPr lang="es" sz="1600">
                <a:solidFill>
                  <a:schemeClr val="accent1"/>
                </a:solidFill>
                <a:latin typeface="Lato"/>
                <a:ea typeface="Lato"/>
                <a:cs typeface="Lato"/>
                <a:sym typeface="Lato"/>
              </a:rPr>
              <a:t>% de cumplimiento; la diferencia entre la meta y el avance actual</a:t>
            </a:r>
            <a:endParaRPr sz="1600">
              <a:solidFill>
                <a:schemeClr val="accent1"/>
              </a:solidFill>
              <a:latin typeface="Lato"/>
              <a:ea typeface="Lato"/>
              <a:cs typeface="Lato"/>
              <a:sym typeface="Lato"/>
            </a:endParaRPr>
          </a:p>
          <a:p>
            <a:pPr indent="0" lvl="0" marL="0" rtl="0" algn="l">
              <a:spcBef>
                <a:spcPts val="0"/>
              </a:spcBef>
              <a:spcAft>
                <a:spcPts val="0"/>
              </a:spcAft>
              <a:buNone/>
            </a:pPr>
            <a:r>
              <a:rPr lang="es" sz="1600">
                <a:solidFill>
                  <a:schemeClr val="accent1"/>
                </a:solidFill>
                <a:latin typeface="Lato"/>
                <a:ea typeface="Lato"/>
                <a:cs typeface="Lato"/>
                <a:sym typeface="Lato"/>
              </a:rPr>
              <a:t>Cumplimiento ponderado; el ponderador por el avance de cumplimiento</a:t>
            </a:r>
            <a:r>
              <a:rPr lang="es" sz="1600">
                <a:solidFill>
                  <a:schemeClr val="accent1"/>
                </a:solidFill>
                <a:latin typeface="Lato"/>
                <a:ea typeface="Lato"/>
                <a:cs typeface="Lato"/>
                <a:sym typeface="Lato"/>
              </a:rPr>
              <a:t> </a:t>
            </a:r>
            <a:endParaRPr/>
          </a:p>
        </p:txBody>
      </p:sp>
      <p:pic>
        <p:nvPicPr>
          <p:cNvPr id="166" name="Google Shape;166;p24"/>
          <p:cNvPicPr preferRelativeResize="0"/>
          <p:nvPr/>
        </p:nvPicPr>
        <p:blipFill>
          <a:blip r:embed="rId3">
            <a:alphaModFix/>
          </a:blip>
          <a:stretch>
            <a:fillRect/>
          </a:stretch>
        </p:blipFill>
        <p:spPr>
          <a:xfrm>
            <a:off x="388938" y="2954994"/>
            <a:ext cx="7864700" cy="2043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ctrTitle"/>
          </p:nvPr>
        </p:nvSpPr>
        <p:spPr>
          <a:xfrm>
            <a:off x="800600" y="342300"/>
            <a:ext cx="82227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TUBO DE TRABAJO; AGENDA COLECTIVA</a:t>
            </a:r>
            <a:endParaRPr sz="3280"/>
          </a:p>
        </p:txBody>
      </p:sp>
      <p:pic>
        <p:nvPicPr>
          <p:cNvPr id="172" name="Google Shape;172;p25"/>
          <p:cNvPicPr preferRelativeResize="0"/>
          <p:nvPr/>
        </p:nvPicPr>
        <p:blipFill>
          <a:blip r:embed="rId3">
            <a:alphaModFix/>
          </a:blip>
          <a:stretch>
            <a:fillRect/>
          </a:stretch>
        </p:blipFill>
        <p:spPr>
          <a:xfrm>
            <a:off x="667050" y="2233350"/>
            <a:ext cx="7747149" cy="2634875"/>
          </a:xfrm>
          <a:prstGeom prst="rect">
            <a:avLst/>
          </a:prstGeom>
          <a:noFill/>
          <a:ln>
            <a:noFill/>
          </a:ln>
        </p:spPr>
      </p:pic>
      <p:sp>
        <p:nvSpPr>
          <p:cNvPr id="173" name="Google Shape;173;p25"/>
          <p:cNvSpPr txBox="1"/>
          <p:nvPr/>
        </p:nvSpPr>
        <p:spPr>
          <a:xfrm>
            <a:off x="704900" y="868931"/>
            <a:ext cx="8126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accent1"/>
                </a:solidFill>
                <a:latin typeface="Lato"/>
                <a:ea typeface="Lato"/>
                <a:cs typeface="Lato"/>
                <a:sym typeface="Lato"/>
              </a:rPr>
              <a:t>El tubo de trabajo es una agenda colectiva para registrar los compromisos a futuro </a:t>
            </a:r>
            <a:r>
              <a:rPr lang="es" sz="1600">
                <a:solidFill>
                  <a:schemeClr val="accent1"/>
                </a:solidFill>
                <a:latin typeface="Lato"/>
                <a:ea typeface="Lato"/>
                <a:cs typeface="Lato"/>
                <a:sym typeface="Lato"/>
              </a:rPr>
              <a:t>permitiendo</a:t>
            </a:r>
            <a:r>
              <a:rPr lang="es" sz="1600">
                <a:solidFill>
                  <a:schemeClr val="accent1"/>
                </a:solidFill>
                <a:latin typeface="Lato"/>
                <a:ea typeface="Lato"/>
                <a:cs typeface="Lato"/>
                <a:sym typeface="Lato"/>
              </a:rPr>
              <a:t> hacer un seguimiento por parte del delegado y </a:t>
            </a:r>
            <a:r>
              <a:rPr lang="es" sz="1600">
                <a:solidFill>
                  <a:schemeClr val="accent1"/>
                </a:solidFill>
                <a:latin typeface="Lato"/>
                <a:ea typeface="Lato"/>
                <a:cs typeface="Lato"/>
                <a:sym typeface="Lato"/>
              </a:rPr>
              <a:t>cualquier</a:t>
            </a:r>
            <a:r>
              <a:rPr lang="es" sz="1600">
                <a:solidFill>
                  <a:schemeClr val="accent1"/>
                </a:solidFill>
                <a:latin typeface="Lato"/>
                <a:ea typeface="Lato"/>
                <a:cs typeface="Lato"/>
                <a:sym typeface="Lato"/>
              </a:rPr>
              <a:t> funcionario, cambiando el estado de:    INGRESADO PENDIENTE EN PROCESO	 REALIZADO, lo que permite tener un control y manejo cuando no podemos cumplir en fecha informando al usuario . que no explote la bomba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6"/>
          <p:cNvSpPr txBox="1"/>
          <p:nvPr>
            <p:ph type="ctrTitle"/>
          </p:nvPr>
        </p:nvSpPr>
        <p:spPr>
          <a:xfrm>
            <a:off x="800600" y="342300"/>
            <a:ext cx="82227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TUBO DE TRABAJO; RESUMEN COLECTIVO</a:t>
            </a:r>
            <a:endParaRPr sz="3280"/>
          </a:p>
        </p:txBody>
      </p:sp>
      <p:sp>
        <p:nvSpPr>
          <p:cNvPr id="179" name="Google Shape;179;p26"/>
          <p:cNvSpPr txBox="1"/>
          <p:nvPr/>
        </p:nvSpPr>
        <p:spPr>
          <a:xfrm>
            <a:off x="633100" y="1504931"/>
            <a:ext cx="3123900" cy="34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t>Cada funcionario alimenta esta </a:t>
            </a:r>
            <a:r>
              <a:rPr lang="es" sz="1500"/>
              <a:t>agenda</a:t>
            </a:r>
            <a:r>
              <a:rPr lang="es" sz="1500"/>
              <a:t> lo que nos permite visualizar el % realizado por </a:t>
            </a:r>
            <a:r>
              <a:rPr lang="es" sz="1500"/>
              <a:t>funcionario</a:t>
            </a:r>
            <a:r>
              <a:rPr lang="es" sz="1500"/>
              <a:t> y de la </a:t>
            </a:r>
            <a:r>
              <a:rPr lang="es" sz="1500"/>
              <a:t>totalidad</a:t>
            </a:r>
            <a:r>
              <a:rPr lang="es" sz="1500"/>
              <a:t> de la </a:t>
            </a:r>
            <a:r>
              <a:rPr lang="es" sz="1500"/>
              <a:t>delegación.</a:t>
            </a:r>
            <a:endParaRPr sz="1500"/>
          </a:p>
          <a:p>
            <a:pPr indent="0" lvl="0" marL="0" rtl="0" algn="l">
              <a:spcBef>
                <a:spcPts val="0"/>
              </a:spcBef>
              <a:spcAft>
                <a:spcPts val="0"/>
              </a:spcAft>
              <a:buNone/>
            </a:pPr>
            <a:r>
              <a:rPr lang="es" sz="1500"/>
              <a:t>valor de cumplimiento afecta en su puntaje ya que se exige un cumplimiento del 80%.</a:t>
            </a:r>
            <a:endParaRPr sz="1500"/>
          </a:p>
          <a:p>
            <a:pPr indent="0" lvl="0" marL="0" rtl="0" algn="l">
              <a:spcBef>
                <a:spcPts val="0"/>
              </a:spcBef>
              <a:spcAft>
                <a:spcPts val="0"/>
              </a:spcAft>
              <a:buNone/>
            </a:pPr>
            <a:r>
              <a:rPr lang="es" sz="1500"/>
              <a:t>además se puede ver el porcentaje de actividades pendientes de realizar.</a:t>
            </a:r>
            <a:endParaRPr sz="1500"/>
          </a:p>
          <a:p>
            <a:pPr indent="0" lvl="0" marL="0" rtl="0" algn="l">
              <a:spcBef>
                <a:spcPts val="0"/>
              </a:spcBef>
              <a:spcAft>
                <a:spcPts val="0"/>
              </a:spcAft>
              <a:buNone/>
            </a:pPr>
            <a:r>
              <a:rPr lang="es" sz="1500"/>
              <a:t>info linkeada a puntaje de cada funcionario</a:t>
            </a:r>
            <a:endParaRPr sz="1500"/>
          </a:p>
          <a:p>
            <a:pPr indent="0" lvl="0" marL="0" rtl="0" algn="l">
              <a:spcBef>
                <a:spcPts val="0"/>
              </a:spcBef>
              <a:spcAft>
                <a:spcPts val="0"/>
              </a:spcAft>
              <a:buNone/>
            </a:pPr>
            <a:r>
              <a:rPr lang="es"/>
              <a:t> </a:t>
            </a:r>
            <a:endParaRPr/>
          </a:p>
        </p:txBody>
      </p:sp>
      <p:pic>
        <p:nvPicPr>
          <p:cNvPr id="180" name="Google Shape;180;p26"/>
          <p:cNvPicPr preferRelativeResize="0"/>
          <p:nvPr/>
        </p:nvPicPr>
        <p:blipFill>
          <a:blip r:embed="rId3">
            <a:alphaModFix/>
          </a:blip>
          <a:stretch>
            <a:fillRect/>
          </a:stretch>
        </p:blipFill>
        <p:spPr>
          <a:xfrm>
            <a:off x="4012900" y="1212925"/>
            <a:ext cx="5010399" cy="33875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txBox="1"/>
          <p:nvPr>
            <p:ph type="ctrTitle"/>
          </p:nvPr>
        </p:nvSpPr>
        <p:spPr>
          <a:xfrm>
            <a:off x="585175" y="342300"/>
            <a:ext cx="84381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SEMÁFORO; SEGUIMIENTO DE AVANCE AL DIA</a:t>
            </a:r>
            <a:endParaRPr sz="3280"/>
          </a:p>
        </p:txBody>
      </p:sp>
      <p:sp>
        <p:nvSpPr>
          <p:cNvPr id="186" name="Google Shape;186;p27"/>
          <p:cNvSpPr txBox="1"/>
          <p:nvPr/>
        </p:nvSpPr>
        <p:spPr>
          <a:xfrm>
            <a:off x="633100" y="1504931"/>
            <a:ext cx="3123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s"/>
              <a:t> </a:t>
            </a:r>
            <a:endParaRPr/>
          </a:p>
        </p:txBody>
      </p:sp>
      <p:pic>
        <p:nvPicPr>
          <p:cNvPr id="187" name="Google Shape;187;p27"/>
          <p:cNvPicPr preferRelativeResize="0"/>
          <p:nvPr/>
        </p:nvPicPr>
        <p:blipFill>
          <a:blip r:embed="rId3">
            <a:alphaModFix/>
          </a:blip>
          <a:stretch>
            <a:fillRect/>
          </a:stretch>
        </p:blipFill>
        <p:spPr>
          <a:xfrm>
            <a:off x="429575" y="1040200"/>
            <a:ext cx="8233201" cy="3682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ctrTitle"/>
          </p:nvPr>
        </p:nvSpPr>
        <p:spPr>
          <a:xfrm>
            <a:off x="585175" y="342300"/>
            <a:ext cx="84381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SEMÁFORO; SEGUIMIENTO DE AVANCE AL DIA</a:t>
            </a:r>
            <a:endParaRPr sz="3280"/>
          </a:p>
        </p:txBody>
      </p:sp>
      <p:sp>
        <p:nvSpPr>
          <p:cNvPr id="193" name="Google Shape;193;p28"/>
          <p:cNvSpPr txBox="1"/>
          <p:nvPr/>
        </p:nvSpPr>
        <p:spPr>
          <a:xfrm>
            <a:off x="633100" y="1504931"/>
            <a:ext cx="3123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s"/>
              <a:t> </a:t>
            </a:r>
            <a:endParaRPr/>
          </a:p>
        </p:txBody>
      </p:sp>
      <p:pic>
        <p:nvPicPr>
          <p:cNvPr id="194" name="Google Shape;194;p28"/>
          <p:cNvPicPr preferRelativeResize="0"/>
          <p:nvPr/>
        </p:nvPicPr>
        <p:blipFill rotWithShape="1">
          <a:blip r:embed="rId3">
            <a:alphaModFix/>
          </a:blip>
          <a:srcRect b="0" l="0" r="28479" t="0"/>
          <a:stretch/>
        </p:blipFill>
        <p:spPr>
          <a:xfrm>
            <a:off x="345800" y="1313450"/>
            <a:ext cx="5278150" cy="3300875"/>
          </a:xfrm>
          <a:prstGeom prst="rect">
            <a:avLst/>
          </a:prstGeom>
          <a:noFill/>
          <a:ln>
            <a:noFill/>
          </a:ln>
        </p:spPr>
      </p:pic>
      <p:sp>
        <p:nvSpPr>
          <p:cNvPr id="195" name="Google Shape;195;p28"/>
          <p:cNvSpPr txBox="1"/>
          <p:nvPr/>
        </p:nvSpPr>
        <p:spPr>
          <a:xfrm>
            <a:off x="5757050" y="1504925"/>
            <a:ext cx="29907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700"/>
              <a:t>El </a:t>
            </a:r>
            <a:r>
              <a:rPr lang="es" sz="1700"/>
              <a:t>semáforo</a:t>
            </a:r>
            <a:r>
              <a:rPr lang="es" sz="1700"/>
              <a:t> nos muestra el cumplimiento al dia de cada funcionario si esta cumpliendo con sus metas esperadas, ya que como se mide el trimestre son metas de 100% en 90 </a:t>
            </a:r>
            <a:r>
              <a:rPr lang="es" sz="1700"/>
              <a:t>días</a:t>
            </a:r>
            <a:r>
              <a:rPr lang="es" sz="1700"/>
              <a:t>.</a:t>
            </a:r>
            <a:endParaRPr sz="1700"/>
          </a:p>
          <a:p>
            <a:pPr indent="0" lvl="0" marL="0" rtl="0" algn="l">
              <a:spcBef>
                <a:spcPts val="0"/>
              </a:spcBef>
              <a:spcAft>
                <a:spcPts val="0"/>
              </a:spcAft>
              <a:buNone/>
            </a:pPr>
            <a:r>
              <a:rPr lang="es" sz="1700"/>
              <a:t>lo que nos permite controlar lo que se espera avanzar </a:t>
            </a:r>
            <a:r>
              <a:rPr lang="es" sz="1700"/>
              <a:t>diariamente</a:t>
            </a:r>
            <a:r>
              <a:rPr lang="es" sz="1700"/>
              <a:t> </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ctrTitle"/>
          </p:nvPr>
        </p:nvSpPr>
        <p:spPr>
          <a:xfrm>
            <a:off x="585175" y="342300"/>
            <a:ext cx="84381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SEMÁFORO; SEGUIMIENTO DE AVANCE AL DIA</a:t>
            </a:r>
            <a:endParaRPr sz="3280"/>
          </a:p>
        </p:txBody>
      </p:sp>
      <p:sp>
        <p:nvSpPr>
          <p:cNvPr id="201" name="Google Shape;201;p29"/>
          <p:cNvSpPr txBox="1"/>
          <p:nvPr/>
        </p:nvSpPr>
        <p:spPr>
          <a:xfrm>
            <a:off x="633100" y="1504931"/>
            <a:ext cx="3123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s"/>
              <a:t> </a:t>
            </a:r>
            <a:endParaRPr/>
          </a:p>
        </p:txBody>
      </p:sp>
      <p:sp>
        <p:nvSpPr>
          <p:cNvPr id="202" name="Google Shape;202;p29"/>
          <p:cNvSpPr txBox="1"/>
          <p:nvPr/>
        </p:nvSpPr>
        <p:spPr>
          <a:xfrm>
            <a:off x="704875" y="1504925"/>
            <a:ext cx="39435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t>El cuadro resumen muestra</a:t>
            </a:r>
            <a:endParaRPr sz="2000"/>
          </a:p>
          <a:p>
            <a:pPr indent="0" lvl="0" marL="0" rtl="0" algn="l">
              <a:spcBef>
                <a:spcPts val="0"/>
              </a:spcBef>
              <a:spcAft>
                <a:spcPts val="0"/>
              </a:spcAft>
              <a:buNone/>
            </a:pPr>
            <a:r>
              <a:rPr lang="es" sz="2000"/>
              <a:t>fecha de hoy</a:t>
            </a:r>
            <a:endParaRPr sz="2000"/>
          </a:p>
          <a:p>
            <a:pPr indent="0" lvl="0" marL="0" rtl="0" algn="l">
              <a:spcBef>
                <a:spcPts val="0"/>
              </a:spcBef>
              <a:spcAft>
                <a:spcPts val="0"/>
              </a:spcAft>
              <a:buNone/>
            </a:pPr>
            <a:r>
              <a:rPr lang="es" sz="2000"/>
              <a:t>fecha inicio de la </a:t>
            </a:r>
            <a:r>
              <a:rPr lang="es" sz="2000"/>
              <a:t>medición</a:t>
            </a:r>
            <a:endParaRPr sz="2000"/>
          </a:p>
          <a:p>
            <a:pPr indent="0" lvl="0" marL="0" rtl="0" algn="l">
              <a:spcBef>
                <a:spcPts val="0"/>
              </a:spcBef>
              <a:spcAft>
                <a:spcPts val="0"/>
              </a:spcAft>
              <a:buNone/>
            </a:pPr>
            <a:r>
              <a:rPr lang="es" sz="2000"/>
              <a:t>fecha </a:t>
            </a:r>
            <a:r>
              <a:rPr lang="es" sz="2000"/>
              <a:t>término</a:t>
            </a:r>
            <a:r>
              <a:rPr lang="es" sz="2000"/>
              <a:t> de la </a:t>
            </a:r>
            <a:r>
              <a:rPr lang="es" sz="2000"/>
              <a:t>medición</a:t>
            </a:r>
            <a:endParaRPr sz="2000"/>
          </a:p>
          <a:p>
            <a:pPr indent="0" lvl="0" marL="0" rtl="0" algn="l">
              <a:spcBef>
                <a:spcPts val="0"/>
              </a:spcBef>
              <a:spcAft>
                <a:spcPts val="0"/>
              </a:spcAft>
              <a:buNone/>
            </a:pPr>
            <a:r>
              <a:rPr lang="es" sz="2000"/>
              <a:t>días</a:t>
            </a:r>
            <a:r>
              <a:rPr lang="es" sz="2000"/>
              <a:t> totales de la </a:t>
            </a:r>
            <a:r>
              <a:rPr lang="es" sz="2000"/>
              <a:t>medición</a:t>
            </a:r>
            <a:endParaRPr sz="2000"/>
          </a:p>
          <a:p>
            <a:pPr indent="0" lvl="0" marL="0" rtl="0" algn="l">
              <a:spcBef>
                <a:spcPts val="0"/>
              </a:spcBef>
              <a:spcAft>
                <a:spcPts val="0"/>
              </a:spcAft>
              <a:buNone/>
            </a:pPr>
            <a:r>
              <a:rPr lang="es" sz="2000"/>
              <a:t>días</a:t>
            </a:r>
            <a:r>
              <a:rPr lang="es" sz="2000"/>
              <a:t> de avance</a:t>
            </a:r>
            <a:endParaRPr sz="2000"/>
          </a:p>
          <a:p>
            <a:pPr indent="0" lvl="0" marL="0" rtl="0" algn="l">
              <a:spcBef>
                <a:spcPts val="0"/>
              </a:spcBef>
              <a:spcAft>
                <a:spcPts val="0"/>
              </a:spcAft>
              <a:buNone/>
            </a:pPr>
            <a:r>
              <a:rPr lang="es" sz="2000"/>
              <a:t>% diario esperado</a:t>
            </a:r>
            <a:endParaRPr sz="2000"/>
          </a:p>
          <a:p>
            <a:pPr indent="0" lvl="0" marL="0" rtl="0" algn="l">
              <a:spcBef>
                <a:spcPts val="0"/>
              </a:spcBef>
              <a:spcAft>
                <a:spcPts val="0"/>
              </a:spcAft>
              <a:buNone/>
            </a:pPr>
            <a:r>
              <a:rPr lang="es" sz="2000"/>
              <a:t>% de avance logrado </a:t>
            </a:r>
            <a:endParaRPr sz="2000"/>
          </a:p>
        </p:txBody>
      </p:sp>
      <p:pic>
        <p:nvPicPr>
          <p:cNvPr id="203" name="Google Shape;203;p29"/>
          <p:cNvPicPr preferRelativeResize="0"/>
          <p:nvPr/>
        </p:nvPicPr>
        <p:blipFill>
          <a:blip r:embed="rId3">
            <a:alphaModFix/>
          </a:blip>
          <a:stretch>
            <a:fillRect/>
          </a:stretch>
        </p:blipFill>
        <p:spPr>
          <a:xfrm>
            <a:off x="4965700" y="1284700"/>
            <a:ext cx="3569375" cy="3556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type="ctrTitle"/>
          </p:nvPr>
        </p:nvSpPr>
        <p:spPr>
          <a:xfrm>
            <a:off x="585175" y="342300"/>
            <a:ext cx="8438100" cy="49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s" sz="2880"/>
              <a:t>RESUMEN DELEGACIÓN; SEMÁFORO + DATOS </a:t>
            </a:r>
            <a:endParaRPr sz="3280"/>
          </a:p>
        </p:txBody>
      </p:sp>
      <p:sp>
        <p:nvSpPr>
          <p:cNvPr id="209" name="Google Shape;209;p30"/>
          <p:cNvSpPr txBox="1"/>
          <p:nvPr/>
        </p:nvSpPr>
        <p:spPr>
          <a:xfrm>
            <a:off x="633100" y="1504931"/>
            <a:ext cx="31239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p>
          <a:p>
            <a:pPr indent="0" lvl="0" marL="0" rtl="0" algn="l">
              <a:spcBef>
                <a:spcPts val="0"/>
              </a:spcBef>
              <a:spcAft>
                <a:spcPts val="0"/>
              </a:spcAft>
              <a:buNone/>
            </a:pPr>
            <a:r>
              <a:rPr lang="es"/>
              <a:t> </a:t>
            </a:r>
            <a:endParaRPr/>
          </a:p>
        </p:txBody>
      </p:sp>
      <p:sp>
        <p:nvSpPr>
          <p:cNvPr id="210" name="Google Shape;210;p30"/>
          <p:cNvSpPr txBox="1"/>
          <p:nvPr/>
        </p:nvSpPr>
        <p:spPr>
          <a:xfrm>
            <a:off x="202175" y="3904950"/>
            <a:ext cx="88182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El cuadro resumen muestra LA FECHA del último ingreso, días pasados desde ultimo ingreso, cantidad de ingresos, promedio de ingresos diarios</a:t>
            </a:r>
            <a:endParaRPr sz="1800"/>
          </a:p>
          <a:p>
            <a:pPr indent="0" lvl="0" marL="0" rtl="0" algn="l">
              <a:spcBef>
                <a:spcPts val="0"/>
              </a:spcBef>
              <a:spcAft>
                <a:spcPts val="0"/>
              </a:spcAft>
              <a:buNone/>
            </a:pPr>
            <a:r>
              <a:t/>
            </a:r>
            <a:endParaRPr sz="1800"/>
          </a:p>
        </p:txBody>
      </p:sp>
      <p:pic>
        <p:nvPicPr>
          <p:cNvPr id="211" name="Google Shape;211;p30"/>
          <p:cNvPicPr preferRelativeResize="0"/>
          <p:nvPr/>
        </p:nvPicPr>
        <p:blipFill>
          <a:blip r:embed="rId3">
            <a:alphaModFix/>
          </a:blip>
          <a:stretch>
            <a:fillRect/>
          </a:stretch>
        </p:blipFill>
        <p:spPr>
          <a:xfrm>
            <a:off x="-12" y="833100"/>
            <a:ext cx="9020175" cy="2895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ctrTitle"/>
          </p:nvPr>
        </p:nvSpPr>
        <p:spPr>
          <a:xfrm>
            <a:off x="461800" y="110250"/>
            <a:ext cx="8438100" cy="49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 sz="2580"/>
              <a:t>PESTAÑA </a:t>
            </a:r>
            <a:r>
              <a:rPr lang="es" sz="2580"/>
              <a:t>DELEGACIÓN</a:t>
            </a:r>
            <a:r>
              <a:rPr lang="es" sz="2580"/>
              <a:t>;CARGOS  FUNCIONARIOS</a:t>
            </a:r>
            <a:endParaRPr sz="2580"/>
          </a:p>
          <a:p>
            <a:pPr indent="0" lvl="0" marL="0" rtl="0" algn="ctr">
              <a:spcBef>
                <a:spcPts val="0"/>
              </a:spcBef>
              <a:spcAft>
                <a:spcPts val="0"/>
              </a:spcAft>
              <a:buSzPts val="990"/>
              <a:buNone/>
            </a:pPr>
            <a:r>
              <a:rPr lang="es" sz="2580"/>
              <a:t>CUMPLIMIENTO PONDERADO  </a:t>
            </a:r>
            <a:endParaRPr sz="2980"/>
          </a:p>
        </p:txBody>
      </p:sp>
      <p:sp>
        <p:nvSpPr>
          <p:cNvPr id="217" name="Google Shape;217;p31"/>
          <p:cNvSpPr txBox="1"/>
          <p:nvPr/>
        </p:nvSpPr>
        <p:spPr>
          <a:xfrm>
            <a:off x="461800" y="4353800"/>
            <a:ext cx="8558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t>Se tiene una </a:t>
            </a:r>
            <a:r>
              <a:rPr lang="es" sz="1800"/>
              <a:t>visión</a:t>
            </a:r>
            <a:r>
              <a:rPr lang="es" sz="1800"/>
              <a:t> global del personal y las fechas de importancia, junto con las cifras alcanzadas por el equipo</a:t>
            </a:r>
            <a:endParaRPr sz="1800"/>
          </a:p>
          <a:p>
            <a:pPr indent="0" lvl="0" marL="0" rtl="0" algn="l">
              <a:spcBef>
                <a:spcPts val="0"/>
              </a:spcBef>
              <a:spcAft>
                <a:spcPts val="0"/>
              </a:spcAft>
              <a:buNone/>
            </a:pPr>
            <a:r>
              <a:t/>
            </a:r>
            <a:endParaRPr sz="1800"/>
          </a:p>
        </p:txBody>
      </p:sp>
      <p:pic>
        <p:nvPicPr>
          <p:cNvPr id="218" name="Google Shape;218;p31"/>
          <p:cNvPicPr preferRelativeResize="0"/>
          <p:nvPr/>
        </p:nvPicPr>
        <p:blipFill>
          <a:blip r:embed="rId3">
            <a:alphaModFix/>
          </a:blip>
          <a:stretch>
            <a:fillRect/>
          </a:stretch>
        </p:blipFill>
        <p:spPr>
          <a:xfrm>
            <a:off x="461800" y="985500"/>
            <a:ext cx="7804701" cy="32731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nvSpPr>
        <p:spPr>
          <a:xfrm>
            <a:off x="232025" y="1211750"/>
            <a:ext cx="8567400" cy="390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t>1.- Funciona con google drive, lo que permite un monitoreo en línea y un trabajo simultáneo actualizándose de manera inmediata,  lo que nos facilita tener una foto real de que hace cada delegación y su grado de avance.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2.- Permite una comunicación directa entre las delegaciones y coordinadores del sistema a través de la misma plataforma, resolviendo de manera clara todas las dudas e inquietudes.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3.-Al ser nosotros creadores del sistema, podemos generar mejoras constantes y actualizaciones acorde a las necesidades que surgen ( agregar celdas, cambiar puntos de interés, cambiar ponderadores, etc.)</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4.- Permite al delegado saber en qué tareas está cada funcionario y que cosas estan con fecha de compromiso, por lo que si el funcionario no está presente, se puede ver sin problemas su agenda en el tubo de trabajo. ( transversalidad)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5- Sirve como fuente de información para la generación de informes actualizados. Es por eso que esta herramienta sirve visualizar al dia, quien va bajo la línea del cumplimiento diario esperado, con la finalidad de apoyar, motivar y levantar a los colaboradores que van rezagados. (siempre desde el acompañamiento)</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6) Por otra parte, visualiza si un funcionario no tiene el perfil de productividad para el cargo.</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s" sz="1200"/>
              <a:t>7) Permite verificar mediante fotos o llamados las actividades completadas </a:t>
            </a:r>
            <a:endParaRPr sz="1200"/>
          </a:p>
          <a:p>
            <a:pPr indent="0" lvl="0" marL="0" rtl="0" algn="l">
              <a:spcBef>
                <a:spcPts val="0"/>
              </a:spcBef>
              <a:spcAft>
                <a:spcPts val="0"/>
              </a:spcAft>
              <a:buNone/>
            </a:pPr>
            <a:r>
              <a:t/>
            </a:r>
            <a:endParaRPr/>
          </a:p>
        </p:txBody>
      </p:sp>
      <p:sp>
        <p:nvSpPr>
          <p:cNvPr id="224" name="Google Shape;224;p32"/>
          <p:cNvSpPr txBox="1"/>
          <p:nvPr>
            <p:ph type="ctrTitle"/>
          </p:nvPr>
        </p:nvSpPr>
        <p:spPr>
          <a:xfrm>
            <a:off x="296675" y="635000"/>
            <a:ext cx="8438100" cy="490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 sz="2580"/>
              <a:t>CARACTERÍSTICAS  Y BENEFICIOS DEL MODELO</a:t>
            </a:r>
            <a:r>
              <a:rPr lang="es" sz="2580"/>
              <a:t>  </a:t>
            </a:r>
            <a:endParaRPr sz="298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